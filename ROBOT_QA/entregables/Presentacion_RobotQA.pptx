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448495" y="274320"/>
            <a:ext cx="2743200" cy="2743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50247" y="1097280"/>
            <a:ext cx="2423160" cy="24231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1999" y="1920240"/>
            <a:ext cx="2103120" cy="2103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53751" y="2743200"/>
            <a:ext cx="1783080" cy="17830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55503" y="3566160"/>
            <a:ext cx="1463040" cy="14630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57255" y="4389120"/>
            <a:ext cx="1143000" cy="1143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822960" cy="822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2286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ROBOT 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A9DFD8"/>
                </a:solidFill>
                <a:latin typeface="Calibri"/>
              </a:rPr>
              <a:t>Pruebas automatizadas para un sistema con Inteligencia Artificial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977639"/>
            <a:ext cx="3200400" cy="254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Proyecto: Síntesis Automática de Reportes y Briefings Operacionales (MVP-Ciitec)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8056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Taller en Empresa 2  ·  Facultad de Ingeniería, Universidad San Sebastián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035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7A"/>
                </a:solidFill>
                <a:latin typeface="Calibri"/>
              </a:rPr>
              <a:t>Equipo: [completar]   ·   23 de 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30"/>
                </a:solidFill>
                <a:latin typeface="Cambria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Robot QA — MVP-Ciitec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D9488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4173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430"/>
                </a:solidFill>
                <a:latin typeface="Cambria"/>
              </a:rPr>
              <a:t>Análisis del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4708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Por qué probar un sistema con LLM es distinto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05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D9488"/>
                </a:solidFill>
                <a:latin typeface="Cambr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6517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430"/>
                </a:solidFill>
                <a:latin typeface="Cambria"/>
              </a:rPr>
              <a:t>Diseño y desarrollo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08152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Arquitectura, catálogo de casos y gate de liberación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1005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D9488"/>
                </a:solidFill>
                <a:latin typeface="Cambr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886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430"/>
                </a:solidFill>
                <a:latin typeface="Cambria"/>
              </a:rPr>
              <a:t>Resultados obtenidos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31596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Corrida real contra la API — del hallazgo a la corrección validada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1005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D9488"/>
                </a:solidFill>
                <a:latin typeface="Cambr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51206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430"/>
                </a:solidFill>
                <a:latin typeface="Cambria"/>
              </a:rPr>
              <a:t>Conclusiones y mejoras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55040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Qué funcionó, qué falta y el backlog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0D9488"/>
                </a:solidFill>
                <a:latin typeface="Cambr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65176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Análisis del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A9DFD8"/>
                </a:solidFill>
                <a:latin typeface="Calibri"/>
              </a:rPr>
              <a:t>¿Qué cambia cuando el sistema bajo prueba tiene un LLM adentro?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30"/>
                </a:solidFill>
                <a:latin typeface="Cambria"/>
              </a:rPr>
              <a:t>El sistema bajo prueba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Robot QA — MVP-Ciitec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MVP-Ciitec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5669280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1B2430"/>
                </a:solidFill>
                <a:latin typeface="Calibri"/>
              </a:rPr>
              <a:t>—  Ingiere documentos heterogéneos (PDF, Word, Excel, correo, bitácora)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B2430"/>
                </a:solidFill>
                <a:latin typeface="Calibri"/>
              </a:rPr>
              <a:t>—  Extrae hechos operacionales con un LLM (Gemini 2.5 Flash)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B2430"/>
                </a:solidFill>
                <a:latin typeface="Calibri"/>
              </a:rPr>
              <a:t>—  Sintetiza un briefing institucional versionado y trazable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B2430"/>
                </a:solidFill>
                <a:latin typeface="Calibri"/>
              </a:rPr>
              <a:t>—  Detecta inconsistencias entre hechos de distintas fuentes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B2430"/>
                </a:solidFill>
                <a:latin typeface="Calibri"/>
              </a:rPr>
              <a:t>—  Exporta a PDF / Word / texto / PPTX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B2430"/>
                </a:solidFill>
                <a:latin typeface="Calibri"/>
              </a:rPr>
              <a:t>—  Control de acceso por rol, unidad y nivel de clasificación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371600"/>
            <a:ext cx="19050" cy="448056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508760"/>
            <a:ext cx="502920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92440" y="157276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D9488"/>
                </a:solidFill>
                <a:latin typeface="Cambria"/>
              </a:rPr>
              <a:t>Por eso es distinto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240280"/>
            <a:ext cx="3931920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1B2430"/>
                </a:solidFill>
                <a:latin typeface="Calibri"/>
              </a:rPr>
              <a:t>—  Respuesta no determinista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B2430"/>
                </a:solidFill>
                <a:latin typeface="Calibri"/>
              </a:rPr>
              <a:t>—  Coincidencia exacta no alcanza: hace falta evaluación semántica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B2430"/>
                </a:solidFill>
                <a:latin typeface="Calibri"/>
              </a:rPr>
              <a:t>—  Dependiente del contexto (prompt, documentos, historial)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B2430"/>
                </a:solidFill>
                <a:latin typeface="Calibri"/>
              </a:rPr>
              <a:t>—  Riesgo real de alucinación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B2430"/>
                </a:solidFill>
                <a:latin typeface="Calibri"/>
              </a:rPr>
              <a:t>—  Superficie de ataque nueva: prompt injection, RAG contaminado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B2430"/>
                </a:solidFill>
                <a:latin typeface="Calibri"/>
              </a:rPr>
              <a:t>—  Costo y latencia importan tanto como la calidad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Calibri"/>
              </a:rPr>
              <a:t>ANÁLISIS DEL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30"/>
                </a:solidFill>
                <a:latin typeface="Cambria"/>
              </a:rPr>
              <a:t>Riesgos priorizados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Robot QA — MVP-Ciitec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850392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Calibri"/>
              </a:rPr>
              <a:t>Fuga de datos por nivel de clasificación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1435607"/>
            <a:ext cx="173736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15453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Crítica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12264"/>
            <a:ext cx="850392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295144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Calibri"/>
              </a:rPr>
              <a:t>Prompt injection vía documento cargado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2221992"/>
            <a:ext cx="173736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23317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Crítica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898648"/>
            <a:ext cx="850392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81528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Calibri"/>
              </a:rPr>
              <a:t>Alucinación / cita sin respaldo real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3008376"/>
            <a:ext cx="1737360" cy="457200"/>
          </a:xfrm>
          <a:prstGeom prst="rect">
            <a:avLst/>
          </a:prstGeom>
          <a:solidFill>
            <a:srgbClr val="B0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311810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685032"/>
            <a:ext cx="850392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867912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Calibri"/>
              </a:rPr>
              <a:t>Regresión no detectada entre versiones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3794760"/>
            <a:ext cx="1737360" cy="457200"/>
          </a:xfrm>
          <a:prstGeom prst="rect">
            <a:avLst/>
          </a:prstGeom>
          <a:solidFill>
            <a:srgbClr val="B0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390448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471416"/>
            <a:ext cx="850392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654296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Calibri"/>
              </a:rPr>
              <a:t>Dependencia de disponibilidad del proveedor LLM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4581144"/>
            <a:ext cx="1737360" cy="457200"/>
          </a:xfrm>
          <a:prstGeom prst="rect">
            <a:avLst/>
          </a:prstGeom>
          <a:solidFill>
            <a:srgbClr val="B0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46908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257800"/>
            <a:ext cx="8503920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44068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B2430"/>
                </a:solidFill>
                <a:latin typeface="Calibri"/>
              </a:rPr>
              <a:t>No determinismo entre repeticiones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5367528"/>
            <a:ext cx="1737360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547725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Media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0D9488"/>
                </a:solidFill>
                <a:latin typeface="Cambr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65176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Diseño y desarrollo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A9DFD8"/>
                </a:solidFill>
                <a:latin typeface="Calibri"/>
              </a:rPr>
              <a:t>Arquitectura, catálogo de casos y gate de liberación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Calibri"/>
              </a:rPr>
              <a:t>DISEÑO Y DESARROLLO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30"/>
                </a:solidFill>
                <a:latin typeface="Cambria"/>
              </a:rPr>
              <a:t>Arquitectura del robot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Robot QA — MVP-Ciitec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14600"/>
            <a:ext cx="169164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Orquestador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07792"/>
            <a:ext cx="16916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999232"/>
            <a:ext cx="154533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B7A"/>
                </a:solidFill>
                <a:latin typeface="Calibri"/>
              </a:rPr>
              <a:t>lee campaña y configuración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8568" y="2651760"/>
            <a:ext cx="210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2514600"/>
            <a:ext cx="169164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56032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Adaptador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2907792"/>
            <a:ext cx="16916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2" y="2999232"/>
            <a:ext cx="154533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B7A"/>
                </a:solidFill>
                <a:latin typeface="Calibri"/>
              </a:rPr>
              <a:t>invoca la API real (REST)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7" y="2651760"/>
            <a:ext cx="210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2514600"/>
            <a:ext cx="169164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256032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Capturador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2907792"/>
            <a:ext cx="16916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1" y="2999232"/>
            <a:ext cx="154533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B7A"/>
                </a:solidFill>
                <a:latin typeface="Calibri"/>
              </a:rPr>
              <a:t>guarda evidencia reproducible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7" y="2651760"/>
            <a:ext cx="210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199" y="2514600"/>
            <a:ext cx="169164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199" y="256032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Evaluadores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199" y="2907792"/>
            <a:ext cx="16916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2999232"/>
            <a:ext cx="154533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B7A"/>
                </a:solidFill>
                <a:latin typeface="Calibri"/>
              </a:rPr>
              <a:t>9 evaluadores, 6 niveles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7" y="2651760"/>
            <a:ext cx="210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19" y="2514600"/>
            <a:ext cx="169164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19" y="256032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Agregador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19" y="2907792"/>
            <a:ext cx="16916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9871" y="2999232"/>
            <a:ext cx="154533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B7A"/>
                </a:solidFill>
                <a:latin typeface="Calibri"/>
              </a:rPr>
              <a:t>gate de liberación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6647" y="2651760"/>
            <a:ext cx="210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21239" y="2514600"/>
            <a:ext cx="169164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21239" y="256032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Reportero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21239" y="2907792"/>
            <a:ext cx="16916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94391" y="2999232"/>
            <a:ext cx="154533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B7A"/>
                </a:solidFill>
                <a:latin typeface="Calibri"/>
              </a:rPr>
              <a:t>HTML / JSON / JUnit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B6B7A"/>
                </a:solidFill>
                <a:latin typeface="Calibri"/>
              </a:rPr>
              <a:t>Guía ROBOT_QA §4 — el mismo flujo para las 6 familias de prueba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617720"/>
            <a:ext cx="109728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8006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B3A5C"/>
                </a:solidFill>
                <a:latin typeface="Consolas"/>
              </a:rPr>
              <a:t>SutAdapter.invoke(caso) → Observation  ·  Evaluator.evaluate(caso, observación, contexto) → Score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B3A5C"/>
                </a:solidFill>
                <a:latin typeface="Consolas"/>
              </a:rPr>
              <a:t>ReplayAdapter: reejecuta evaluadores sobre evidencia guardada, sin llamar de nuevo al SUT ni al LLM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Calibri"/>
              </a:rPr>
              <a:t>DISEÑO Y DESARROLLO — GUÍA ROBOT_QA §7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30"/>
                </a:solidFill>
                <a:latin typeface="Cambria"/>
              </a:rPr>
              <a:t>6 niveles de evaluación, 9 evaluadores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Robot QA — MVP-Ciitec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94360" cy="5943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99616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344168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430"/>
                </a:solidFill>
                <a:latin typeface="Calibri"/>
              </a:rPr>
              <a:t>Aserciones deterministas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34416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3A5C"/>
                </a:solidFill>
                <a:latin typeface="Consolas"/>
              </a:rPr>
              <a:t>schema · http_contract · rbac_leak · budget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594360" cy="5943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68296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12848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430"/>
                </a:solidFill>
                <a:latin typeface="Calibri"/>
              </a:rPr>
              <a:t>Comparación con referencia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21284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3A5C"/>
                </a:solidFill>
                <a:latin typeface="Consolas"/>
              </a:rPr>
              <a:t>required_fact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08960"/>
            <a:ext cx="594360" cy="5943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36976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081528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430"/>
                </a:solidFill>
                <a:latin typeface="Calibri"/>
              </a:rPr>
              <a:t>Métricas / relaciones metamórficas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08152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3A5C"/>
                </a:solidFill>
                <a:latin typeface="Consolas"/>
              </a:rPr>
              <a:t>metamorphic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77640"/>
            <a:ext cx="594360" cy="5943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05656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4-5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950208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430"/>
                </a:solidFill>
                <a:latin typeface="Calibri"/>
              </a:rPr>
              <a:t>Rúbricas semánticas / juez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95020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3A5C"/>
                </a:solidFill>
                <a:latin typeface="Consolas"/>
              </a:rPr>
              <a:t>rubric_llm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846320"/>
            <a:ext cx="594360" cy="5943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74336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818888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430"/>
                </a:solidFill>
                <a:latin typeface="Calibri"/>
              </a:rPr>
              <a:t>Revisión humana + calibración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818888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3A5C"/>
                </a:solidFill>
                <a:latin typeface="Consolas"/>
              </a:rPr>
              <a:t>human_review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Calibri"/>
              </a:rPr>
              <a:t>DISEÑO Y DESARROLLO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30"/>
                </a:solidFill>
                <a:latin typeface="Cambria"/>
              </a:rPr>
              <a:t>Catálogo de casos: 52 en 6 familias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Robot QA — MVP-Ciitec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691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D9488"/>
                </a:solidFill>
                <a:latin typeface="Cambria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A"/>
                </a:solidFill>
                <a:latin typeface="Calibri"/>
              </a:rPr>
              <a:t>Funcional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371600"/>
            <a:ext cx="1691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50876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D9488"/>
                </a:solidFill>
                <a:latin typeface="Cambria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14884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A"/>
                </a:solidFill>
                <a:latin typeface="Calibri"/>
              </a:rPr>
              <a:t>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371600"/>
            <a:ext cx="1691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50876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D9488"/>
                </a:solidFill>
                <a:latin typeface="Cambria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14884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A"/>
                </a:solidFill>
                <a:latin typeface="Calibri"/>
              </a:rPr>
              <a:t>Robustez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371600"/>
            <a:ext cx="1691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50876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D9488"/>
                </a:solidFill>
                <a:latin typeface="Cambria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14884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A"/>
                </a:solidFill>
                <a:latin typeface="Calibri"/>
              </a:rPr>
              <a:t>Seguridad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371600"/>
            <a:ext cx="1691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150876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D9488"/>
                </a:solidFill>
                <a:latin typeface="Cambr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14884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A"/>
                </a:solidFill>
                <a:latin typeface="Calibri"/>
              </a:rPr>
              <a:t>Rendimiento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1371600"/>
            <a:ext cx="1691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150876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D9488"/>
                </a:solidFill>
                <a:latin typeface="Cambri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14884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B7A"/>
                </a:solidFill>
                <a:latin typeface="Calibri"/>
              </a:rPr>
              <a:t>Confiabilidad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017520"/>
            <a:ext cx="1097280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Formato de caso versionado en YAML (case_id, requirement_id, evaluators, thresholds, repetitions, severity)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Trazable a los requisitos RF-001..010 / RNF-001..006 del README del proyecto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Generado reproduciblemente por robot-qa/scripts/generate_testcases.py — el YAML resultante se versiona en git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Criterio de aceptación de la Guía (≥ 50 casos, ≥ 4 familias, ≥ 5 evaluadores con ≥ 2 deterministas): superado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Calibri"/>
              </a:rPr>
              <a:t>DISEÑO Y DESARROLLO — GUÍA ROBOT_QA §11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30"/>
                </a:solidFill>
                <a:latin typeface="Cambria"/>
              </a:rPr>
              <a:t>Gate de liberación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Robot QA — MVP-Ciitec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2743200"/>
          </a:xfrm>
          <a:prstGeom prst="rect">
            <a:avLst/>
          </a:prstGeom>
          <a:solidFill>
            <a:srgbClr val="12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4846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9DFD8"/>
                </a:solidFill>
                <a:latin typeface="Consolas"/>
              </a:rPr>
              <a:t>si fallos_criticos &gt; 0: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9DFD8"/>
                </a:solidFill>
                <a:latin typeface="Consolas"/>
              </a:rPr>
              <a:t>    RECHAZAR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9DFD8"/>
                </a:solidFill>
                <a:latin typeface="Consolas"/>
              </a:rPr>
              <a:t>si task_success_rate &lt; umbral: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9DFD8"/>
                </a:solidFill>
                <a:latin typeface="Consolas"/>
              </a:rPr>
              <a:t>    RECHAZAR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9DFD8"/>
                </a:solidFill>
                <a:latin typeface="Consolas"/>
              </a:rPr>
              <a:t>si cola_revision &gt; permitida: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9DFD8"/>
                </a:solidFill>
                <a:latin typeface="Consolas"/>
              </a:rPr>
              <a:t>    REVISION HUMANA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9DFD8"/>
                </a:solidFill>
                <a:latin typeface="Consolas"/>
              </a:rPr>
              <a:t>si no: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9DFD8"/>
                </a:solidFill>
                <a:latin typeface="Consolas"/>
              </a:rPr>
              <a:t>    APROBAR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63040"/>
            <a:ext cx="539496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PASS: se libera la versión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HUMAN_REVIEW: casos límite van a una persona antes de decidir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REJECT: hay evidencia suficiente para bloquear la liberación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Cada corrida guarda un manifiesto: commit del SUT, commit del robot, modelo de LLM, umbrales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0D9488"/>
                </a:solidFill>
                <a:latin typeface="Cambr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65176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Resultados obtenidos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A9DFD8"/>
                </a:solidFill>
                <a:latin typeface="Calibri"/>
              </a:rPr>
              <a:t>Corrida real contra la API — sin datos inventados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Calibri"/>
              </a:rPr>
              <a:t>RESULTADOS OBTENIDOS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30"/>
                </a:solidFill>
                <a:latin typeface="Cambria"/>
              </a:rPr>
              <a:t>Resultados de la corrida "smoke"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Robot QA — MVP-Ciitec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4688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4008" cy="1554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3A5C"/>
                </a:solidFill>
                <a:latin typeface="Cambria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B7A"/>
                </a:solidFill>
                <a:latin typeface="Calibri"/>
              </a:rPr>
              <a:t>casos ejecutados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371600"/>
            <a:ext cx="24688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371600"/>
            <a:ext cx="64008" cy="155448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81328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7F37"/>
                </a:solidFill>
                <a:latin typeface="Cambria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231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B7A"/>
                </a:solidFill>
                <a:latin typeface="Calibri"/>
              </a:rPr>
              <a:t>aprobados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1371600"/>
            <a:ext cx="24688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720" y="1371600"/>
            <a:ext cx="64008" cy="155448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1481328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7F37"/>
                </a:solidFill>
                <a:latin typeface="Cambria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4231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B7A"/>
                </a:solidFill>
                <a:latin typeface="Calibri"/>
              </a:rPr>
              <a:t>fallidos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1371600"/>
            <a:ext cx="3246120" cy="155448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1508760"/>
            <a:ext cx="2788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78308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</a:rPr>
              <a:t>PASS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3200400"/>
          <a:ext cx="1106423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5120639"/>
              </a:tblGrid>
              <a:tr h="274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case_id</a:t>
                      </a:r>
                    </a:p>
                  </a:txBody>
                  <a:tcPr anchor="ctr" marL="73152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requisito</a:t>
                      </a:r>
                    </a:p>
                  </a:txBody>
                  <a:tcPr anchor="ctr" marL="73152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veredicto</a:t>
                      </a:r>
                    </a:p>
                  </a:txBody>
                  <a:tcPr anchor="ctr" marL="73152">
                    <a:solidFill>
                      <a:srgbClr val="1B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FUNC-001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RNF-001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7F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FUNC-002</a:t>
                      </a:r>
                    </a:p>
                  </a:txBody>
                  <a:tcPr anchor="ctr" marL="7315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RNF-001</a:t>
                      </a:r>
                    </a:p>
                  </a:txBody>
                  <a:tcPr anchor="ctr" marL="7315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7F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73152"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FUNC-003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RF-004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7F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FUNC-004</a:t>
                      </a:r>
                    </a:p>
                  </a:txBody>
                  <a:tcPr anchor="ctr" marL="7315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RF-001</a:t>
                      </a:r>
                    </a:p>
                  </a:txBody>
                  <a:tcPr anchor="ctr" marL="7315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7F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73152"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FUNC-005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RF-007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7F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FUNC-006</a:t>
                      </a:r>
                    </a:p>
                  </a:txBody>
                  <a:tcPr anchor="ctr" marL="7315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RF-009</a:t>
                      </a:r>
                    </a:p>
                  </a:txBody>
                  <a:tcPr anchor="ctr" marL="7315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7F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73152"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FUNC-007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RF-008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7F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FUNC-008</a:t>
                      </a:r>
                    </a:p>
                  </a:txBody>
                  <a:tcPr anchor="ctr" marL="7315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RF-008</a:t>
                      </a:r>
                    </a:p>
                  </a:txBody>
                  <a:tcPr anchor="ctr" marL="7315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7F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73152"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FUNC-009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RF-008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7F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FUNC-010</a:t>
                      </a:r>
                    </a:p>
                  </a:txBody>
                  <a:tcPr anchor="ctr" marL="7315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430"/>
                          </a:solidFill>
                          <a:latin typeface="Calibri"/>
                        </a:rPr>
                        <a:t>RF-007</a:t>
                      </a:r>
                    </a:p>
                  </a:txBody>
                  <a:tcPr anchor="ctr" marL="7315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7F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anchor="ctr" marL="73152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Calibri"/>
              </a:rPr>
              <a:t>RESULTADOS OBTENIDOS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30"/>
                </a:solidFill>
                <a:latin typeface="Cambria"/>
              </a:rPr>
              <a:t>Antes vs. ahora: FUNC-004 validado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Robot QA — MVP-Ciitec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484632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16002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0392B"/>
                </a:solidFill>
                <a:latin typeface="Cambria"/>
              </a:rPr>
              <a:t>smoke-20260920T180712Z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4206240" cy="3017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Gate: REJECT — 1 fallo crítico: FUNC-004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task_success_rate: 90.0%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FUNC-004: FAIL — budget 181.8s (umbral 180s)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latency_p95: 176.1s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96735" y="1325880"/>
            <a:ext cx="484632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775" y="155448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16002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7F37"/>
                </a:solidFill>
                <a:latin typeface="Cambria"/>
              </a:rPr>
              <a:t>smoke-20260921T174007Z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6775" y="2240280"/>
            <a:ext cx="4206240" cy="3017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Gate: PASS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task_success_rate: 100.0%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FUNC-004: PASS — budget 113.2s (umbral 180s)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latency_p95: 110.6s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01487" y="2971800"/>
            <a:ext cx="1188720" cy="9144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1487" y="308152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−68.6s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1487" y="34290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(−37.7%)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Calibri"/>
              </a:rPr>
              <a:t>RESULTADOS OBTENIDOS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30"/>
                </a:solidFill>
                <a:latin typeface="Cambria"/>
              </a:rPr>
              <a:t>Un hallazgo real: detectado, corregido y validado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Robot QA — MVP-Ciitec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sz="1450">
                <a:solidFill>
                  <a:srgbClr val="1B2430"/>
                </a:solidFill>
                <a:latin typeface="Calibri"/>
              </a:rPr>
              <a:t>—  Corrida smoke-20260920T180712Z: 9 de 10 casos pasaron; FUNC-004 superó el presupuesto de latencia — 181.8s contra un umbral de 180 s.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1B2430"/>
                </a:solidFill>
                <a:latin typeface="Calibri"/>
              </a:rPr>
              <a:t>—  Login, ingesta, versionado, point-in-time, exportación (PDF/Word/texto) y aprobación de versión pasaron sin observaciones desde la primera corrida.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1B2430"/>
                </a:solidFill>
                <a:latin typeface="Calibri"/>
              </a:rPr>
              <a:t>—  Causa raíz: Gemini 2.5 Flash genera “thinking” interno antes del JSON final; el esquema de síntesis es grande y con 3 documentos se acerca o supera el umbral.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1B2430"/>
                </a:solidFill>
                <a:latin typeface="Calibri"/>
              </a:rPr>
              <a:t>—  Mitigación aplicada: se desactiva el thinking de Gemini (reasoning_effort=“none”) en GeminiProvider (backend/app/llm/provider.py).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1B2430"/>
                </a:solidFill>
                <a:latin typeface="Calibri"/>
              </a:rPr>
              <a:t>—  Validado: corrida smoke-20260921T174007Z confirma la mitigación — FUNC-004 pasa en 113.2s, gate de la campaña PASS.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Calibri"/>
              </a:rPr>
              <a:t>RESULTADOS OBTENIDOS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30"/>
                </a:solidFill>
                <a:latin typeface="Cambria"/>
              </a:rPr>
              <a:t>Demostración: una regresión detectada por el robot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Robot QA — MVP-Ciitec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9496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164592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7F37"/>
                </a:solidFill>
                <a:latin typeface="Cambria"/>
              </a:rPr>
              <a:t>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475488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sintesis.py guarda la trazabilidad bullet → hecho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citation_support encuentra citas resueltas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Gate: PASS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9496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0020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0" y="164592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0392B"/>
                </a:solidFill>
                <a:latin typeface="Cambria"/>
              </a:rPr>
              <a:t>demo/regresion-qa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475488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Se deshabilita a propósito el guardado de trazabilidad (1 commit, reversible)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citation_support: 0 citas resueltas en los casos RAG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task_success_rate cae bajo el umbral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B2430"/>
                </a:solidFill>
                <a:latin typeface="Calibri"/>
              </a:rPr>
              <a:t>—  Gate: REJECT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0D9488"/>
                </a:solidFill>
                <a:latin typeface="Cambr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65176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Conclusiones y oportunidades de mejora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A9DFD8"/>
                </a:solidFill>
                <a:latin typeface="Calibri"/>
              </a:rPr>
              <a:t>Qué funcionó, qué falta y el backlog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Calibri"/>
              </a:rPr>
              <a:t>CONCLUSIONES Y OPORTUNIDADES DE MEJORA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30"/>
                </a:solidFill>
                <a:latin typeface="Cambria"/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Robot QA — MVP-Ciitec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1B2430"/>
                </a:solidFill>
                <a:latin typeface="Calibri"/>
              </a:rPr>
              <a:t>—  El robot ejecuta contra el sistema REAL (no contra mocks): login LDAP, RBAC, Celery, Postgres, MinIO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B2430"/>
                </a:solidFill>
                <a:latin typeface="Calibri"/>
              </a:rPr>
              <a:t>—  Captura evidencia reproducible: cada corrida queda con su manifiesto (commit, modelo, umbrales)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B2430"/>
                </a:solidFill>
                <a:latin typeface="Calibri"/>
              </a:rPr>
              <a:t>—  Combina evaluación determinista, metamórfica y semántica en un solo gate de liberación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B2430"/>
                </a:solidFill>
                <a:latin typeface="Calibri"/>
              </a:rPr>
              <a:t>—  Detecta tanto éxitos genuinos como fallas reales del sistema y de su proveedor de LLM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B2430"/>
                </a:solidFill>
                <a:latin typeface="Calibri"/>
              </a:rPr>
              <a:t>—  Cerró el ciclo completo en esta iteración: detectó la falla, guió la corrección y validó el arreglo con una nueva corrida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B2430"/>
                </a:solidFill>
                <a:latin typeface="Calibri"/>
              </a:rPr>
              <a:t>—  Puede reejecutar evaluadores sin volver a llamar al SUT ni al LLM (modo --replay)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Calibri"/>
              </a:rPr>
              <a:t>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430"/>
                </a:solidFill>
                <a:latin typeface="Cambria"/>
              </a:rPr>
              <a:t>Oportunidades de mejora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Robot QA — MVP-Ciitec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A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sz="1450">
                <a:solidFill>
                  <a:srgbClr val="1B2430"/>
                </a:solidFill>
                <a:latin typeface="Calibri"/>
              </a:rPr>
              <a:t>—  Ejecutar la campaña completa (52 casos × 3 repeticiones) y fijar la línea base oficial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1B2430"/>
                </a:solidFill>
                <a:latin typeface="Calibri"/>
              </a:rPr>
              <a:t>—  Sumar un sexto usuario demo de otra unidad para cerrar la prueba de fuga entre unidades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1B2430"/>
                </a:solidFill>
                <a:latin typeface="Calibri"/>
              </a:rPr>
              <a:t>—  Instrumentar el backend para exponer tokens/costo por generación (cost_per_successful_task)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1B2430"/>
                </a:solidFill>
                <a:latin typeface="Calibri"/>
              </a:rPr>
              <a:t>—  Correr robot_qa calibrate con revisión humana real y reportar el acuerdo con el juez LLM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1B2430"/>
                </a:solidFill>
                <a:latin typeface="Calibri"/>
              </a:rPr>
              <a:t>—  Integrar la campaña smoke al pipeline de CI en cada pull request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8288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A9DFD8"/>
                </a:solidFill>
                <a:latin typeface="Calibri"/>
              </a:rPr>
              <a:t>Preguntas y demo en vivo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