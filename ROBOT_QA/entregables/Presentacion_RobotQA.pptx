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75520" y="274320"/>
            <a:ext cx="2743200" cy="2743200"/>
          </a:xfrm>
          <a:prstGeom prst="ellipse">
            <a:avLst/>
          </a:prstGeom>
          <a:solidFill>
            <a:srgbClr val="1B3A5C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893808" y="1097280"/>
            <a:ext cx="2423160" cy="2423160"/>
          </a:xfrm>
          <a:prstGeom prst="ellipse">
            <a:avLst/>
          </a:prstGeom>
          <a:solidFill>
            <a:srgbClr val="1B3A5C">
              <a:alpha val="6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9912096" y="1920240"/>
            <a:ext cx="2103120" cy="2103120"/>
          </a:xfrm>
          <a:prstGeom prst="ellipse">
            <a:avLst/>
          </a:prstGeom>
          <a:solidFill>
            <a:srgbClr val="1B3A5C">
              <a:alpha val="6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930384" y="2743200"/>
            <a:ext cx="1783080" cy="1783080"/>
          </a:xfrm>
          <a:prstGeom prst="ellipse">
            <a:avLst/>
          </a:prstGeom>
          <a:solidFill>
            <a:srgbClr val="1B3A5C">
              <a:alpha val="6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9948672" y="3566160"/>
            <a:ext cx="1463040" cy="1463040"/>
          </a:xfrm>
          <a:prstGeom prst="ellipse">
            <a:avLst/>
          </a:prstGeom>
          <a:solidFill>
            <a:srgbClr val="1B3A5C">
              <a:alpha val="6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9966960" y="4389120"/>
            <a:ext cx="1143000" cy="1143000"/>
          </a:xfrm>
          <a:prstGeom prst="ellipse">
            <a:avLst/>
          </a:prstGeom>
          <a:solidFill>
            <a:srgbClr val="1B3A5C">
              <a:alpha val="60000"/>
            </a:srgbClr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40080"/>
            <a:ext cx="822960" cy="8229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48640" y="228600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spc="200" kern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ROBOT QA</a:t>
            </a:r>
            <a:endParaRPr lang="en-US" sz="5200" dirty="0"/>
          </a:p>
        </p:txBody>
      </p:sp>
      <p:sp>
        <p:nvSpPr>
          <p:cNvPr id="10" name="Text 7"/>
          <p:cNvSpPr/>
          <p:nvPr/>
        </p:nvSpPr>
        <p:spPr>
          <a:xfrm>
            <a:off x="594360" y="3246120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automatizadas para un sistema con Inteligencia Artificial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594360" y="3977640"/>
            <a:ext cx="3200400" cy="0"/>
          </a:xfrm>
          <a:prstGeom prst="line">
            <a:avLst/>
          </a:prstGeom>
          <a:noFill/>
          <a:ln w="31750">
            <a:solidFill>
              <a:srgbClr val="0D948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94360" y="416052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Proyecto: Síntesis Automática de Reportes y Briefings Operacionales (MVP-Ciitec)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594360" y="448056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en Empresa 2  ·  Facultad de Ingeniería, Universidad San Sebastián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594360" y="603504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Equipo: [completar]   ·   23 de septiembre de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56032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Agenda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1737360" y="1508760"/>
            <a:ext cx="0" cy="777240"/>
          </a:xfrm>
          <a:prstGeom prst="line">
            <a:avLst/>
          </a:prstGeom>
          <a:noFill/>
          <a:ln w="19050">
            <a:solidFill>
              <a:srgbClr val="D8DE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65960" y="141732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Análisis del problema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965960" y="1847088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probar un sistema con LLM es distinto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260604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9" name="Shape 7"/>
          <p:cNvSpPr/>
          <p:nvPr/>
        </p:nvSpPr>
        <p:spPr>
          <a:xfrm>
            <a:off x="1737360" y="2743200"/>
            <a:ext cx="0" cy="777240"/>
          </a:xfrm>
          <a:prstGeom prst="line">
            <a:avLst/>
          </a:prstGeom>
          <a:noFill/>
          <a:ln w="19050">
            <a:solidFill>
              <a:srgbClr val="D8DE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965960" y="265176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Diseño y desarrollo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965960" y="3081528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Arquitectura, catálogo de casos y gate de liberación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384048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3" name="Shape 11"/>
          <p:cNvSpPr/>
          <p:nvPr/>
        </p:nvSpPr>
        <p:spPr>
          <a:xfrm>
            <a:off x="1737360" y="3977640"/>
            <a:ext cx="0" cy="777240"/>
          </a:xfrm>
          <a:prstGeom prst="line">
            <a:avLst/>
          </a:prstGeom>
          <a:noFill/>
          <a:ln w="19050">
            <a:solidFill>
              <a:srgbClr val="D8DE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965960" y="388620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Resultados obtenidos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965960" y="4315968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Corrida real contra la API, incluyendo un hallazgo inesperado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507492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17" name="Shape 15"/>
          <p:cNvSpPr/>
          <p:nvPr/>
        </p:nvSpPr>
        <p:spPr>
          <a:xfrm>
            <a:off x="1737360" y="5212080"/>
            <a:ext cx="0" cy="777240"/>
          </a:xfrm>
          <a:prstGeom prst="line">
            <a:avLst/>
          </a:prstGeom>
          <a:noFill/>
          <a:ln w="19050">
            <a:solidFill>
              <a:srgbClr val="D8DEE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965960" y="512064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Conclusiones y mejoras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965960" y="5550408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funcionó, qué falta y el backlog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 QA — MVP-Ciitec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2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" cy="68580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0"/>
            <a:ext cx="1097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2286000" y="2651760"/>
            <a:ext cx="9144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Análisis del problema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2286000" y="3657600"/>
            <a:ext cx="8686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cambia cuando el sistema bajo prueba tiene un LLM adentro?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4630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sistema bajo prueba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6309360" cy="49377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1463040"/>
            <a:ext cx="5669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MVP-Ciitec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68680" y="2011680"/>
            <a:ext cx="566928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Ingiere documentos heterogéneos (PDF, Word, Excel, correo, bitácora)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Extrae hechos operacionales con un LLM (Gemini 2.5 Flash)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Sintetiza un briefing institucional versionado y trazable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Detecta inconsistencias entre hechos de distintas fuentes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Exporta a PDF / Word / texto / PPTX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de acceso por rol, unidad y nivel de clasificación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7132320" y="1234440"/>
            <a:ext cx="4480560" cy="4937760"/>
          </a:xfrm>
          <a:prstGeom prst="rect">
            <a:avLst/>
          </a:prstGeom>
          <a:solidFill>
            <a:srgbClr val="12233A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0" y="1508760"/>
            <a:ext cx="502920" cy="50292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8092440" y="1572768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eso es distinto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7452360" y="2240280"/>
            <a:ext cx="393192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2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Respuesta no determinista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2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Coincidencia exacta no alcanza: hace falta evaluación semántica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2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Dependiente del contexto (prompt, documentos, historial)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2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real de alucinación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2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Superficie de ataque nueva: prompt injection, RAG contaminado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2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 y latencia importan tanto como la calidad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 QA — MVP-Ciitec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4630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DEL PROBLEMA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Riesgos priorizados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325880"/>
            <a:ext cx="11064240" cy="67665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1325880"/>
            <a:ext cx="850392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Fuga de datos por nivel de clasificación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9601200" y="1435608"/>
            <a:ext cx="1737360" cy="45720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0" y="1435608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Crítica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2112264"/>
            <a:ext cx="11064240" cy="67665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22960" y="2112264"/>
            <a:ext cx="850392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injection vía documento cargado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9601200" y="2221992"/>
            <a:ext cx="1737360" cy="45720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2" name="Text 10"/>
          <p:cNvSpPr/>
          <p:nvPr/>
        </p:nvSpPr>
        <p:spPr>
          <a:xfrm>
            <a:off x="9601200" y="2221992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Crítica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2898648"/>
            <a:ext cx="11064240" cy="67665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22960" y="2898648"/>
            <a:ext cx="850392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Alucinación / cita sin respaldo real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601200" y="3008376"/>
            <a:ext cx="1737360" cy="457200"/>
          </a:xfrm>
          <a:prstGeom prst="rect">
            <a:avLst/>
          </a:prstGeom>
          <a:solidFill>
            <a:srgbClr val="B08800"/>
          </a:solidFill>
          <a:ln/>
        </p:spPr>
      </p:sp>
      <p:sp>
        <p:nvSpPr>
          <p:cNvPr id="16" name="Text 14"/>
          <p:cNvSpPr/>
          <p:nvPr/>
        </p:nvSpPr>
        <p:spPr>
          <a:xfrm>
            <a:off x="9601200" y="3008376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3685032"/>
            <a:ext cx="11064240" cy="67665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22960" y="3685032"/>
            <a:ext cx="850392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Regresión no detectada entre versiones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9601200" y="3794760"/>
            <a:ext cx="1737360" cy="457200"/>
          </a:xfrm>
          <a:prstGeom prst="rect">
            <a:avLst/>
          </a:prstGeom>
          <a:solidFill>
            <a:srgbClr val="B08800"/>
          </a:solidFill>
          <a:ln/>
        </p:spPr>
      </p:sp>
      <p:sp>
        <p:nvSpPr>
          <p:cNvPr id="20" name="Text 18"/>
          <p:cNvSpPr/>
          <p:nvPr/>
        </p:nvSpPr>
        <p:spPr>
          <a:xfrm>
            <a:off x="9601200" y="37947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4471416"/>
            <a:ext cx="11064240" cy="67665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22960" y="4471416"/>
            <a:ext cx="850392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Dependencia de disponibilidad del proveedor LLM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9601200" y="4581144"/>
            <a:ext cx="1737360" cy="457200"/>
          </a:xfrm>
          <a:prstGeom prst="rect">
            <a:avLst/>
          </a:prstGeom>
          <a:solidFill>
            <a:srgbClr val="B08800"/>
          </a:solidFill>
          <a:ln/>
        </p:spPr>
      </p:sp>
      <p:sp>
        <p:nvSpPr>
          <p:cNvPr id="24" name="Text 22"/>
          <p:cNvSpPr/>
          <p:nvPr/>
        </p:nvSpPr>
        <p:spPr>
          <a:xfrm>
            <a:off x="9601200" y="4581144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48640" y="5257800"/>
            <a:ext cx="11064240" cy="67665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822960" y="5257800"/>
            <a:ext cx="850392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determinismo entre repeticiones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9601200" y="5367528"/>
            <a:ext cx="1737360" cy="45720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28" name="Text 26"/>
          <p:cNvSpPr/>
          <p:nvPr/>
        </p:nvSpPr>
        <p:spPr>
          <a:xfrm>
            <a:off x="9601200" y="5367528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 QA — MVP-Ciitec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2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" cy="68580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0"/>
            <a:ext cx="1097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2286000" y="2651760"/>
            <a:ext cx="9144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Diseño y desarrollo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2286000" y="3657600"/>
            <a:ext cx="8686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Arquitectura, catálogo de casos y gate de liberación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4630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Y DESARROLLO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Arquitectura del robot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2377440"/>
            <a:ext cx="1691640" cy="1371600"/>
          </a:xfrm>
          <a:prstGeom prst="rect">
            <a:avLst/>
          </a:prstGeom>
          <a:solidFill>
            <a:srgbClr val="FFFFFF"/>
          </a:solidFill>
          <a:ln w="15875">
            <a:solidFill>
              <a:srgbClr val="0D9488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48640" y="251460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Orquestador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21792" y="2907792"/>
            <a:ext cx="154533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 campaña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configuración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240280" y="3063240"/>
            <a:ext cx="182880" cy="0"/>
          </a:xfrm>
          <a:prstGeom prst="line">
            <a:avLst/>
          </a:prstGeom>
          <a:noFill/>
          <a:ln w="25400">
            <a:solidFill>
              <a:srgbClr val="0D948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423160" y="2377440"/>
            <a:ext cx="1691640" cy="1371600"/>
          </a:xfrm>
          <a:prstGeom prst="rect">
            <a:avLst/>
          </a:prstGeom>
          <a:solidFill>
            <a:srgbClr val="FFFFFF"/>
          </a:solidFill>
          <a:ln w="15875">
            <a:solidFill>
              <a:srgbClr val="0D9488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423160" y="251460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Adaptador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496312" y="2907792"/>
            <a:ext cx="154533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invoca la API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(REST)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114800" y="3063240"/>
            <a:ext cx="182880" cy="0"/>
          </a:xfrm>
          <a:prstGeom prst="line">
            <a:avLst/>
          </a:prstGeom>
          <a:noFill/>
          <a:ln w="25400">
            <a:solidFill>
              <a:srgbClr val="0D948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97680" y="2377440"/>
            <a:ext cx="1691640" cy="1371600"/>
          </a:xfrm>
          <a:prstGeom prst="rect">
            <a:avLst/>
          </a:prstGeom>
          <a:solidFill>
            <a:srgbClr val="FFFFFF"/>
          </a:solidFill>
          <a:ln w="15875">
            <a:solidFill>
              <a:srgbClr val="0D9488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297680" y="251460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Capturador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370832" y="2907792"/>
            <a:ext cx="154533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 evidencia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reproducible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989320" y="3063240"/>
            <a:ext cx="182880" cy="0"/>
          </a:xfrm>
          <a:prstGeom prst="line">
            <a:avLst/>
          </a:prstGeom>
          <a:noFill/>
          <a:ln w="254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72200" y="2377440"/>
            <a:ext cx="1691640" cy="1371600"/>
          </a:xfrm>
          <a:prstGeom prst="rect">
            <a:avLst/>
          </a:prstGeom>
          <a:solidFill>
            <a:srgbClr val="FFFFFF"/>
          </a:solidFill>
          <a:ln w="15875">
            <a:solidFill>
              <a:srgbClr val="0D9488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172200" y="251460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Evaluadores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245352" y="2907792"/>
            <a:ext cx="154533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evaluadores,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niveles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863840" y="3063240"/>
            <a:ext cx="182880" cy="0"/>
          </a:xfrm>
          <a:prstGeom prst="line">
            <a:avLst/>
          </a:prstGeom>
          <a:noFill/>
          <a:ln w="25400">
            <a:solidFill>
              <a:srgbClr val="0D948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46720" y="2377440"/>
            <a:ext cx="1691640" cy="1371600"/>
          </a:xfrm>
          <a:prstGeom prst="rect">
            <a:avLst/>
          </a:prstGeom>
          <a:solidFill>
            <a:srgbClr val="1B3A5C"/>
          </a:solidFill>
          <a:ln w="15875">
            <a:solidFill>
              <a:srgbClr val="0D9488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046720" y="251460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Agregador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119872" y="2907792"/>
            <a:ext cx="154533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de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liberación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9738360" y="3063240"/>
            <a:ext cx="182880" cy="0"/>
          </a:xfrm>
          <a:prstGeom prst="line">
            <a:avLst/>
          </a:prstGeom>
          <a:noFill/>
          <a:ln w="254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921240" y="2377440"/>
            <a:ext cx="1691640" cy="1371600"/>
          </a:xfrm>
          <a:prstGeom prst="rect">
            <a:avLst/>
          </a:prstGeom>
          <a:solidFill>
            <a:srgbClr val="FFFFFF"/>
          </a:solidFill>
          <a:ln w="15875">
            <a:solidFill>
              <a:srgbClr val="0D9488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9921240" y="251460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Reportero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994392" y="2907792"/>
            <a:ext cx="154533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/ JSON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JUnit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48640" y="41148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Guía ROBOT_QA §4 — el mismo flujo para las 6 familias de prueba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48640" y="466344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SutAdapter.invoke(caso) → Observation  ·  Evaluator.evaluate(caso, observación, contexto) → Score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ReplayAdapter: reejecuta evaluadores sobre evidencia guardada, sin llamar de nuevo al SUT ni al LLM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 QA — MVP-Ciitec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4630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Y DESARROLLO — GUÍA ROBOT_QA §7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 niveles de evaluación, 9 evaluadores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40080" y="1371600"/>
            <a:ext cx="594360" cy="59436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37160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463040" y="1344168"/>
            <a:ext cx="3931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Aserciones deterministas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577840" y="1344168"/>
            <a:ext cx="6035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· http_contract · rbac_leak · budget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240280"/>
            <a:ext cx="594360" cy="59436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24028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463040" y="2212848"/>
            <a:ext cx="3931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Comparación con referencia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577840" y="2212848"/>
            <a:ext cx="6035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required_fact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40080" y="3108960"/>
            <a:ext cx="594360" cy="59436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310896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463040" y="3081528"/>
            <a:ext cx="3931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Métricas / relaciones metamórficas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577840" y="3081528"/>
            <a:ext cx="6035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metamorphic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40080" y="3977640"/>
            <a:ext cx="594360" cy="59436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397764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4-5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463040" y="3950208"/>
            <a:ext cx="3931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Rúbricas semánticas / juez LLM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577840" y="3950208"/>
            <a:ext cx="6035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rubric_llm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4846320"/>
            <a:ext cx="594360" cy="59436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84632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463040" y="4818888"/>
            <a:ext cx="3931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Revisión humana + calibración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5577840" y="4818888"/>
            <a:ext cx="6035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human_review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 QA — MVP-Ciitec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4630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Y DESARROLLO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Catálogo de casos: 52 en 6 familias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1728216" cy="1737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371600"/>
            <a:ext cx="64008" cy="1737360"/>
          </a:xfrm>
          <a:prstGeom prst="rect">
            <a:avLst/>
          </a:prstGeom>
          <a:solidFill>
            <a:srgbClr val="1A7F37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481328"/>
            <a:ext cx="1271016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1A7F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777240" y="2606040"/>
            <a:ext cx="1271016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414016" y="1371600"/>
            <a:ext cx="1728216" cy="1737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414016" y="1371600"/>
            <a:ext cx="64008" cy="173736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1" name="Text 9"/>
          <p:cNvSpPr/>
          <p:nvPr/>
        </p:nvSpPr>
        <p:spPr>
          <a:xfrm>
            <a:off x="2642616" y="1481328"/>
            <a:ext cx="1271016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2642616" y="2606040"/>
            <a:ext cx="1271016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279392" y="1371600"/>
            <a:ext cx="1728216" cy="1737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279392" y="1371600"/>
            <a:ext cx="64008" cy="173736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5" name="Text 13"/>
          <p:cNvSpPr/>
          <p:nvPr/>
        </p:nvSpPr>
        <p:spPr>
          <a:xfrm>
            <a:off x="4507992" y="1481328"/>
            <a:ext cx="1271016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4507992" y="2606040"/>
            <a:ext cx="1271016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Robustez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144768" y="1371600"/>
            <a:ext cx="1728216" cy="1737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144768" y="1371600"/>
            <a:ext cx="64008" cy="173736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9" name="Text 17"/>
          <p:cNvSpPr/>
          <p:nvPr/>
        </p:nvSpPr>
        <p:spPr>
          <a:xfrm>
            <a:off x="6373368" y="1481328"/>
            <a:ext cx="1271016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3400" dirty="0"/>
          </a:p>
        </p:txBody>
      </p:sp>
      <p:sp>
        <p:nvSpPr>
          <p:cNvPr id="20" name="Text 18"/>
          <p:cNvSpPr/>
          <p:nvPr/>
        </p:nvSpPr>
        <p:spPr>
          <a:xfrm>
            <a:off x="6373368" y="2606040"/>
            <a:ext cx="1271016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Seguridad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8010144" y="1371600"/>
            <a:ext cx="1728216" cy="1737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010144" y="1371600"/>
            <a:ext cx="64008" cy="1737360"/>
          </a:xfrm>
          <a:prstGeom prst="rect">
            <a:avLst/>
          </a:prstGeom>
          <a:solidFill>
            <a:srgbClr val="B08800"/>
          </a:solidFill>
          <a:ln/>
        </p:spPr>
      </p:sp>
      <p:sp>
        <p:nvSpPr>
          <p:cNvPr id="23" name="Text 21"/>
          <p:cNvSpPr/>
          <p:nvPr/>
        </p:nvSpPr>
        <p:spPr>
          <a:xfrm>
            <a:off x="8238744" y="1481328"/>
            <a:ext cx="1271016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B088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400" dirty="0"/>
          </a:p>
        </p:txBody>
      </p:sp>
      <p:sp>
        <p:nvSpPr>
          <p:cNvPr id="24" name="Text 22"/>
          <p:cNvSpPr/>
          <p:nvPr/>
        </p:nvSpPr>
        <p:spPr>
          <a:xfrm>
            <a:off x="8238744" y="2606040"/>
            <a:ext cx="1271016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Rendimiento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9875520" y="1371600"/>
            <a:ext cx="1728216" cy="1737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9875520" y="1371600"/>
            <a:ext cx="64008" cy="1737360"/>
          </a:xfrm>
          <a:prstGeom prst="rect">
            <a:avLst/>
          </a:prstGeom>
          <a:solidFill>
            <a:srgbClr val="6A5ACD"/>
          </a:solidFill>
          <a:ln/>
        </p:spPr>
      </p:sp>
      <p:sp>
        <p:nvSpPr>
          <p:cNvPr id="27" name="Text 25"/>
          <p:cNvSpPr/>
          <p:nvPr/>
        </p:nvSpPr>
        <p:spPr>
          <a:xfrm>
            <a:off x="10104120" y="1481328"/>
            <a:ext cx="1271016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6A5AC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400" dirty="0"/>
          </a:p>
        </p:txBody>
      </p:sp>
      <p:sp>
        <p:nvSpPr>
          <p:cNvPr id="28" name="Text 26"/>
          <p:cNvSpPr/>
          <p:nvPr/>
        </p:nvSpPr>
        <p:spPr>
          <a:xfrm>
            <a:off x="10104120" y="2606040"/>
            <a:ext cx="1271016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Confiabilidad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548640" y="3566160"/>
            <a:ext cx="109728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 de caso versionado en YAML (case_id, requirement_id, evaluators, thresholds, repetitions, severity)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Trazable a los requisitos RF-001..010 / RNF-001..006 del README del proyecto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Generado reproduciblemente por robot-qa/scripts/generate_testcases.py — el YAML resultante se versiona en git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 de aceptación de la Guía (≥ 50 casos, ≥ 4 familias, ≥ 5 evaluadores con ≥ 2 deterministas): superado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 QA — MVP-Ciitec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4630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Y DESARROLLO — GUÍA ROBOT_QA §11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Gate de liberación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6675120" cy="3931920"/>
          </a:xfrm>
          <a:prstGeom prst="rect">
            <a:avLst/>
          </a:prstGeom>
          <a:solidFill>
            <a:srgbClr val="12233A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600200"/>
            <a:ext cx="612648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A9DF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 fallos_criticos &gt; 0: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A9DF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RECHAZAR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A9DF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 task_success_rate &lt; umbral: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A9DF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RECHAZAR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A9DF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 cola_revision &gt; permitida: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A9DF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REVISION HUMANA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A9DF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 no: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A9DF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APROBAR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498080" y="146304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PASS: se libera la versión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HUMAN_REVIEW: casos límite van a una persona antes de decidir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REJECT: hay evidencia suficiente para bloquear la liberación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corrida guarda un manifiesto: commit del SUT, commit del robot, modelo de LLM, umbrales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 QA — MVP-Ciitec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2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" cy="68580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0"/>
            <a:ext cx="1097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2286000" y="2651760"/>
            <a:ext cx="9144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Resultados obtenidos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2286000" y="3657600"/>
            <a:ext cx="8686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Corrida real contra la API — sin datos inventados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4630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OBTENIDOS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Resultados de la corrida "smoke"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246888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371600"/>
            <a:ext cx="64008" cy="155448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481328"/>
            <a:ext cx="2011680" cy="9144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777240" y="242316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ejecutados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154680" y="1371600"/>
            <a:ext cx="246888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154680" y="1371600"/>
            <a:ext cx="64008" cy="1554480"/>
          </a:xfrm>
          <a:prstGeom prst="rect">
            <a:avLst/>
          </a:prstGeom>
          <a:solidFill>
            <a:srgbClr val="1A7F37"/>
          </a:solidFill>
          <a:ln/>
        </p:spPr>
      </p:sp>
      <p:sp>
        <p:nvSpPr>
          <p:cNvPr id="11" name="Text 9"/>
          <p:cNvSpPr/>
          <p:nvPr/>
        </p:nvSpPr>
        <p:spPr>
          <a:xfrm>
            <a:off x="3383280" y="1481328"/>
            <a:ext cx="2011680" cy="9144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1A7F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3383280" y="242316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aprobados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760720" y="1371600"/>
            <a:ext cx="246888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760720" y="1371600"/>
            <a:ext cx="64008" cy="15544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5" name="Text 13"/>
          <p:cNvSpPr/>
          <p:nvPr/>
        </p:nvSpPr>
        <p:spPr>
          <a:xfrm>
            <a:off x="5989320" y="1481328"/>
            <a:ext cx="2011680" cy="9144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5989320" y="242316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fallidos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8366760" y="1371600"/>
            <a:ext cx="3246120" cy="15544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8" name="Text 16"/>
          <p:cNvSpPr/>
          <p:nvPr/>
        </p:nvSpPr>
        <p:spPr>
          <a:xfrm>
            <a:off x="8595360" y="150876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595360" y="1783080"/>
            <a:ext cx="2743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REJECT</a:t>
            </a:r>
            <a:endParaRPr lang="en-US" sz="2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200400"/>
          <a:ext cx="11064240" cy="301752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512064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case_id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requisito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veredicto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FUNC-001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RNF-001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7F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FUNC-002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RNF-001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7F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FUNC-003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RF-004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7F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FUNC-004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RF-001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7F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FUNC-005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RF-007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7F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FUNC-006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RF-009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7F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FUNC-007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RF-008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FUNC-008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RF-008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FUNC-009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RF-008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FUNC-010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RF-007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  <p:sp>
        <p:nvSpPr>
          <p:cNvPr id="21" name="Text 18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 QA — MVP-Ciitec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22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640080" cy="6400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371600" y="50292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hallazgo real, no fabricado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1371600" y="11430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Durante esta misma corrida, la API de Gemini devolvió cuota agotada (HTTP 429)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640080" y="2011680"/>
            <a:ext cx="1078992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backend agota sus reintentos y revierte la transacción: NO crea una versión del briefing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robot no se queda colgado: agota su poll_timeout y reporta el caso como FALLIDO con la causa exacta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Coincide con un riesgo ya identificado en el análisis: “dependencia del proveedor LLM”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Ningún resultado de esta presentación fue inventado: los éxitos y las fallas son de la corrida real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 QA — MVP-Ciitec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4630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OBTENIDOS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Demostración: una regresión detectada por el robot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5394960" cy="3931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600200"/>
            <a:ext cx="457200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63040" y="164592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7F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main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68680" y="2286000"/>
            <a:ext cx="475488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sintesis.py guarda la trazabilidad bullet → hecho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citation_support encuentra citas resueltas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Gate: PASS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6217920" y="1371600"/>
            <a:ext cx="5394960" cy="3931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1600200"/>
            <a:ext cx="457200" cy="4572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132320" y="1645920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demo/regresion-qa</a:t>
            </a:r>
            <a:endParaRPr lang="en-US" sz="1800" dirty="0"/>
          </a:p>
        </p:txBody>
      </p:sp>
      <p:sp>
        <p:nvSpPr>
          <p:cNvPr id="12" name="Text 8"/>
          <p:cNvSpPr/>
          <p:nvPr/>
        </p:nvSpPr>
        <p:spPr>
          <a:xfrm>
            <a:off x="6537960" y="2286000"/>
            <a:ext cx="475488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deshabilita a propósito el guardado de trazabilidad (1 commit, reversible)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citation_support: 0 citas resueltas en los casos RAG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task_success_rate cae bajo el umbral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Gate: REJECT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 QA — MVP-Ciitec</a:t>
            </a:r>
            <a:endParaRPr lang="en-US" sz="900" dirty="0"/>
          </a:p>
        </p:txBody>
      </p:sp>
      <p:sp>
        <p:nvSpPr>
          <p:cNvPr id="14" name="Text 10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22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" cy="68580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0"/>
            <a:ext cx="1097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2286000" y="2651760"/>
            <a:ext cx="9144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Conclusiones y oportunidades de mejora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2286000" y="3657600"/>
            <a:ext cx="8686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funcionó, qué falta y el backlog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4630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CONCLUSIONES Y OPORTUNIDADES DE MEJORA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371600"/>
            <a:ext cx="1097280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5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robot ejecuta contra el sistema REAL (no contra mocks): login LDAP, RBAC, Celery, Postgres, MinIO</a:t>
            </a:r>
            <a:endParaRPr lang="en-US" sz="155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5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 evidencia reproducible: cada corrida queda con su manifiesto (commit, modelo, umbrales)</a:t>
            </a:r>
            <a:endParaRPr lang="en-US" sz="155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5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 evaluación determinista, metamórfica y semántica en un solo gate de liberación</a:t>
            </a:r>
            <a:endParaRPr lang="en-US" sz="155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5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Detecta tanto éxitos genuinos como fallas reales del sistema y de su proveedor de LLM</a:t>
            </a:r>
            <a:endParaRPr lang="en-US" sz="155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5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Puede reejecutar evaluadores sin volver a llamar al SUT ni al LLM (modo --replay)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 QA — MVP-Ciitec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4630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Oportunidades de mejora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371600"/>
            <a:ext cx="1097280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5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la campaña completa (52 casos × 3 repeticiones) y fijar la línea base oficial</a:t>
            </a:r>
            <a:endParaRPr lang="en-US" sz="155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5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Sumar un sexto usuario demo de otra unidad para cerrar la prueba de fuga entre unidades</a:t>
            </a:r>
            <a:endParaRPr lang="en-US" sz="155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5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Instrumentar el backend para exponer tokens/costo por generación (cost_per_successful_task)</a:t>
            </a:r>
            <a:endParaRPr lang="en-US" sz="155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5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Correr robot_qa calibrate con revisión humana real y reportar el acuerdo con el juez LLM</a:t>
            </a:r>
            <a:endParaRPr lang="en-US" sz="155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5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Integrar la campaña smoke al pipeline de CI en cada pull request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 QA — MVP-Ciitec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22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23560" y="1828800"/>
            <a:ext cx="914400" cy="9144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2926080"/>
            <a:ext cx="12161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Gracias</a:t>
            </a:r>
            <a:endParaRPr lang="en-US" sz="4400" dirty="0"/>
          </a:p>
        </p:txBody>
      </p:sp>
      <p:sp>
        <p:nvSpPr>
          <p:cNvPr id="4" name="Text 1"/>
          <p:cNvSpPr/>
          <p:nvPr/>
        </p:nvSpPr>
        <p:spPr>
          <a:xfrm>
            <a:off x="0" y="3657600"/>
            <a:ext cx="1216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Preguntas y demo en vivo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Robot QA — MVP-Ciitec</dc:title>
  <dc:subject>PptxGenJS Presentation</dc:subject>
  <dc:creator>Equipo MVP-Ciitec</dc:creator>
  <cp:lastModifiedBy>Equipo MVP-Ciitec</cp:lastModifiedBy>
  <cp:revision>1</cp:revision>
  <dcterms:created xsi:type="dcterms:W3CDTF">2026-09-16T20:36:12Z</dcterms:created>
  <dcterms:modified xsi:type="dcterms:W3CDTF">2026-09-16T20:36:12Z</dcterms:modified>
</cp:coreProperties>
</file>